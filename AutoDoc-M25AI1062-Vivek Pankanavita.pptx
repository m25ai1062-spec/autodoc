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5143500" cx="9144000"/>
  <p:notesSz cx="6858000" cy="9144000"/>
  <p:embeddedFontLst>
    <p:embeddedFont>
      <p:font typeface="Raleway"/>
      <p:regular r:id="rId19"/>
      <p:bold r:id="rId20"/>
      <p:italic r:id="rId21"/>
      <p:boldItalic r:id="rId22"/>
    </p:embeddedFont>
    <p:embeddedFont>
      <p:font typeface="Lato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aleway-bold.fntdata"/><Relationship Id="rId22" Type="http://schemas.openxmlformats.org/officeDocument/2006/relationships/font" Target="fonts/Raleway-boldItalic.fntdata"/><Relationship Id="rId21" Type="http://schemas.openxmlformats.org/officeDocument/2006/relationships/font" Target="fonts/Raleway-italic.fntdata"/><Relationship Id="rId24" Type="http://schemas.openxmlformats.org/officeDocument/2006/relationships/font" Target="fonts/Lato-bold.fntdata"/><Relationship Id="rId23" Type="http://schemas.openxmlformats.org/officeDocument/2006/relationships/font" Target="fonts/Lato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Lato-boldItalic.fntdata"/><Relationship Id="rId25" Type="http://schemas.openxmlformats.org/officeDocument/2006/relationships/font" Target="fonts/Lato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font" Target="fonts/Raleway-regular.fntdata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a45461cdd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a45461cdd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a45461cddf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a45461cddf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a45461cddf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a45461cddf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a45461cddf_0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a45461cddf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a45461cddf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a45461cddf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a45461cddf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a45461cddf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a45461cddf_0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a45461cddf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a45461cddf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a45461cddf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a45461cddf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a45461cddf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a45461cddf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a45461cddf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a45461cddf_0_1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a45461cddf_0_1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a45461cddf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a45461cddf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p3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" name="Google Shape;28;p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" name="Google Shape;36;p5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2" type="body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6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7"/>
          <p:cNvSpPr txBox="1"/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" name="Google Shape;59;p8"/>
          <p:cNvSpPr txBox="1"/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9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67" name="Google Shape;67;p9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68" name="Google Shape;68;p9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7" name="Google Shape;77;p11"/>
          <p:cNvSpPr txBox="1"/>
          <p:nvPr>
            <p:ph hasCustomPrompt="1" type="title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/>
          <p:nvPr>
            <p:ph idx="1" type="body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AutoDoc – Intelligent API Documentation and Testing Assistant</a:t>
            </a:r>
            <a:endParaRPr sz="5900"/>
          </a:p>
        </p:txBody>
      </p:sp>
      <p:sp>
        <p:nvSpPr>
          <p:cNvPr id="87" name="Google Shape;87;p13"/>
          <p:cNvSpPr txBox="1"/>
          <p:nvPr>
            <p:ph idx="1" type="subTitle"/>
          </p:nvPr>
        </p:nvSpPr>
        <p:spPr>
          <a:xfrm>
            <a:off x="729625" y="3172900"/>
            <a:ext cx="7688100" cy="98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17"/>
              <a:t>Vivek Pankantavita</a:t>
            </a:r>
            <a:endParaRPr b="1" sz="1717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717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17"/>
              <a:t>M25AI1062</a:t>
            </a:r>
            <a:endParaRPr b="1" sz="1717"/>
          </a:p>
        </p:txBody>
      </p:sp>
      <p:sp>
        <p:nvSpPr>
          <p:cNvPr id="88" name="Google Shape;88;p13"/>
          <p:cNvSpPr txBox="1"/>
          <p:nvPr/>
        </p:nvSpPr>
        <p:spPr>
          <a:xfrm>
            <a:off x="2121025" y="1696825"/>
            <a:ext cx="5517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</a:t>
            </a:r>
            <a:r>
              <a:rPr b="1" lang="en" sz="1700"/>
              <a:t> Statement</a:t>
            </a:r>
            <a:endParaRPr b="1"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700"/>
          </a:p>
        </p:txBody>
      </p:sp>
      <p:sp>
        <p:nvSpPr>
          <p:cNvPr id="94" name="Google Shape;94;p1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API documentation becomes outdated</a:t>
            </a:r>
            <a:br>
              <a:rPr lang="en"/>
            </a:b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Manual documentation is slow</a:t>
            </a:r>
            <a:br>
              <a:rPr lang="en"/>
            </a:b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Developers forget to update docs</a:t>
            </a:r>
            <a:br>
              <a:rPr lang="en"/>
            </a:b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No test cases are prepared automatically</a:t>
            </a:r>
            <a:endParaRPr/>
          </a:p>
          <a:p>
            <a:pPr indent="-2984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 Overview</a:t>
            </a:r>
            <a:endParaRPr/>
          </a:p>
        </p:txBody>
      </p:sp>
      <p:sp>
        <p:nvSpPr>
          <p:cNvPr id="100" name="Google Shape;100;p15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84615"/>
              <a:buFont typeface="Arial"/>
              <a:buNone/>
            </a:pPr>
            <a:r>
              <a:rPr lang="en"/>
              <a:t>AutoDoc automatically:</a:t>
            </a:r>
            <a:endParaRPr/>
          </a:p>
          <a:p>
            <a:pPr indent="-287972" lvl="0" marL="457200" rtl="0" algn="l">
              <a:spcBef>
                <a:spcPts val="1200"/>
              </a:spcBef>
              <a:spcAft>
                <a:spcPts val="0"/>
              </a:spcAft>
              <a:buSzPct val="84615"/>
              <a:buFont typeface="Arial"/>
              <a:buChar char="●"/>
            </a:pPr>
            <a:r>
              <a:rPr lang="en"/>
              <a:t>Extracts FastAPI routes</a:t>
            </a:r>
            <a:br>
              <a:rPr lang="en"/>
            </a:br>
            <a:endParaRPr/>
          </a:p>
          <a:p>
            <a:pPr indent="-287972" lvl="0" marL="457200" rtl="0" algn="l">
              <a:spcBef>
                <a:spcPts val="0"/>
              </a:spcBef>
              <a:spcAft>
                <a:spcPts val="0"/>
              </a:spcAft>
              <a:buSzPct val="84615"/>
              <a:buFont typeface="Arial"/>
              <a:buChar char="●"/>
            </a:pPr>
            <a:r>
              <a:rPr lang="en"/>
              <a:t>Generates Markdown documentation</a:t>
            </a:r>
            <a:br>
              <a:rPr lang="en"/>
            </a:br>
            <a:endParaRPr/>
          </a:p>
          <a:p>
            <a:pPr indent="-287972" lvl="0" marL="457200" rtl="0" algn="l">
              <a:spcBef>
                <a:spcPts val="0"/>
              </a:spcBef>
              <a:spcAft>
                <a:spcPts val="0"/>
              </a:spcAft>
              <a:buSzPct val="84615"/>
              <a:buFont typeface="Arial"/>
              <a:buChar char="●"/>
            </a:pPr>
            <a:r>
              <a:rPr lang="en"/>
              <a:t>Produces OpenAPI JSON</a:t>
            </a:r>
            <a:br>
              <a:rPr lang="en"/>
            </a:br>
            <a:endParaRPr/>
          </a:p>
          <a:p>
            <a:pPr indent="-287972" lvl="0" marL="457200" rtl="0" algn="l">
              <a:spcBef>
                <a:spcPts val="0"/>
              </a:spcBef>
              <a:spcAft>
                <a:spcPts val="0"/>
              </a:spcAft>
              <a:buSzPct val="84615"/>
              <a:buFont typeface="Arial"/>
              <a:buChar char="●"/>
            </a:pPr>
            <a:r>
              <a:rPr lang="en"/>
              <a:t>Creates test cases</a:t>
            </a:r>
            <a:br>
              <a:rPr lang="en"/>
            </a:br>
            <a:endParaRPr/>
          </a:p>
          <a:p>
            <a:pPr indent="-287972" lvl="0" marL="457200" rtl="0" algn="l">
              <a:spcBef>
                <a:spcPts val="0"/>
              </a:spcBef>
              <a:spcAft>
                <a:spcPts val="0"/>
              </a:spcAft>
              <a:buSzPct val="84615"/>
              <a:buFont typeface="Arial"/>
              <a:buChar char="●"/>
            </a:pPr>
            <a:r>
              <a:rPr lang="en"/>
              <a:t>Writes summaries (offline pseudo-AI)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Architecture</a:t>
            </a:r>
            <a:endParaRPr/>
          </a:p>
        </p:txBody>
      </p:sp>
      <p:sp>
        <p:nvSpPr>
          <p:cNvPr id="106" name="Google Shape;106;p16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07" name="Google Shape;107;p16"/>
          <p:cNvPicPr preferRelativeResize="0"/>
          <p:nvPr/>
        </p:nvPicPr>
        <p:blipFill rotWithShape="1">
          <a:blip r:embed="rId3">
            <a:alphaModFix/>
          </a:blip>
          <a:srcRect b="0" l="0" r="0" t="-28700"/>
          <a:stretch/>
        </p:blipFill>
        <p:spPr>
          <a:xfrm>
            <a:off x="1237275" y="2015000"/>
            <a:ext cx="5009649" cy="2922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UML</a:t>
            </a:r>
            <a:endParaRPr/>
          </a:p>
        </p:txBody>
      </p:sp>
      <p:sp>
        <p:nvSpPr>
          <p:cNvPr id="113" name="Google Shape;113;p1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14" name="Google Shape;11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27626" y="1920725"/>
            <a:ext cx="3146476" cy="276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</a:t>
            </a:r>
            <a:endParaRPr/>
          </a:p>
        </p:txBody>
      </p:sp>
      <p:sp>
        <p:nvSpPr>
          <p:cNvPr id="120" name="Google Shape;120;p1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9845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Route Extractor</a:t>
            </a:r>
            <a:br>
              <a:rPr lang="en"/>
            </a:br>
            <a:endParaRPr/>
          </a:p>
          <a:p>
            <a:pPr indent="-2984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Documentation Generator</a:t>
            </a:r>
            <a:br>
              <a:rPr lang="en"/>
            </a:br>
            <a:endParaRPr/>
          </a:p>
          <a:p>
            <a:pPr indent="-2984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Pseudo-AI Summary Engine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Implementation</a:t>
            </a:r>
            <a:endParaRPr/>
          </a:p>
        </p:txBody>
      </p:sp>
      <p:sp>
        <p:nvSpPr>
          <p:cNvPr id="126" name="Google Shape;126;p1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Languages/Tools:</a:t>
            </a:r>
            <a:endParaRPr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Python 3.14</a:t>
            </a:r>
            <a:br>
              <a:rPr lang="en"/>
            </a:b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FastAPI</a:t>
            </a:r>
            <a:br>
              <a:rPr lang="en"/>
            </a:b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Markdown &amp; JSON generation</a:t>
            </a:r>
            <a:br>
              <a:rPr lang="en"/>
            </a:b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Offline summarizer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Modules</a:t>
            </a:r>
            <a:endParaRPr/>
          </a:p>
        </p:txBody>
      </p:sp>
      <p:sp>
        <p:nvSpPr>
          <p:cNvPr id="132" name="Google Shape;132;p2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9845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sample_api.py – the API</a:t>
            </a:r>
            <a:br>
              <a:rPr lang="en"/>
            </a:br>
            <a:endParaRPr/>
          </a:p>
          <a:p>
            <a:pPr indent="-2984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autodoc_core.py – extraction + generation</a:t>
            </a:r>
            <a:br>
              <a:rPr lang="en"/>
            </a:br>
            <a:endParaRPr/>
          </a:p>
          <a:p>
            <a:pPr indent="-2984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ai_engine.py – offline summarizer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Endpoints</a:t>
            </a:r>
            <a:endParaRPr/>
          </a:p>
        </p:txBody>
      </p:sp>
      <p:sp>
        <p:nvSpPr>
          <p:cNvPr id="138" name="Google Shape;138;p21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-293211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84615"/>
              <a:buChar char="●"/>
            </a:pPr>
            <a:r>
              <a:rPr lang="en"/>
              <a:t>GET /hello</a:t>
            </a:r>
            <a:br>
              <a:rPr lang="en"/>
            </a:br>
            <a:endParaRPr/>
          </a:p>
          <a:p>
            <a:pPr indent="-293211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84615"/>
              <a:buChar char="●"/>
            </a:pPr>
            <a:r>
              <a:rPr lang="en"/>
              <a:t>GET /hello/{name}</a:t>
            </a:r>
            <a:br>
              <a:rPr lang="en"/>
            </a:br>
            <a:endParaRPr/>
          </a:p>
          <a:p>
            <a:pPr indent="-293211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84615"/>
              <a:buChar char="●"/>
            </a:pPr>
            <a:r>
              <a:rPr lang="en"/>
              <a:t>POST /echo</a:t>
            </a:r>
            <a:br>
              <a:rPr lang="en"/>
            </a:br>
            <a:endParaRPr/>
          </a:p>
          <a:p>
            <a:pPr indent="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Uses Pydantic validation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Outputs</a:t>
            </a:r>
            <a:endParaRPr/>
          </a:p>
        </p:txBody>
      </p:sp>
      <p:sp>
        <p:nvSpPr>
          <p:cNvPr id="144" name="Google Shape;144;p2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9845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API_DOCUMENTATION.md</a:t>
            </a:r>
            <a:br>
              <a:rPr lang="en"/>
            </a:br>
            <a:endParaRPr/>
          </a:p>
          <a:p>
            <a:pPr indent="-2984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openapi.json</a:t>
            </a:r>
            <a:br>
              <a:rPr lang="en"/>
            </a:br>
            <a:endParaRPr/>
          </a:p>
          <a:p>
            <a:pPr indent="-2984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test_cases.json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 Workflow</a:t>
            </a:r>
            <a:endParaRPr/>
          </a:p>
        </p:txBody>
      </p:sp>
      <p:sp>
        <p:nvSpPr>
          <p:cNvPr id="150" name="Google Shape;150;p2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9845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Run API</a:t>
            </a:r>
            <a:br>
              <a:rPr lang="en"/>
            </a:br>
            <a:endParaRPr/>
          </a:p>
          <a:p>
            <a:pPr indent="-2984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Run AutoDoc</a:t>
            </a:r>
            <a:br>
              <a:rPr lang="en"/>
            </a:br>
            <a:endParaRPr/>
          </a:p>
          <a:p>
            <a:pPr indent="-2984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View generated files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Quality Attributes</a:t>
            </a:r>
            <a:endParaRPr/>
          </a:p>
        </p:txBody>
      </p:sp>
      <p:sp>
        <p:nvSpPr>
          <p:cNvPr id="156" name="Google Shape;156;p2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9845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Maintainability</a:t>
            </a:r>
            <a:br>
              <a:rPr lang="en"/>
            </a:br>
            <a:endParaRPr/>
          </a:p>
          <a:p>
            <a:pPr indent="-2984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Reliability</a:t>
            </a:r>
            <a:br>
              <a:rPr lang="en"/>
            </a:br>
            <a:endParaRPr/>
          </a:p>
          <a:p>
            <a:pPr indent="-2984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Usability</a:t>
            </a:r>
            <a:endParaRPr/>
          </a:p>
          <a:p>
            <a:pPr indent="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Conclusion</a:t>
            </a:r>
            <a:endParaRPr/>
          </a:p>
        </p:txBody>
      </p:sp>
      <p:sp>
        <p:nvSpPr>
          <p:cNvPr id="162" name="Google Shape;162;p25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9845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Saves developer time</a:t>
            </a:r>
            <a:br>
              <a:rPr lang="en"/>
            </a:br>
            <a:endParaRPr/>
          </a:p>
          <a:p>
            <a:pPr indent="-2984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Ensures consistency</a:t>
            </a:r>
            <a:br>
              <a:rPr lang="en"/>
            </a:br>
            <a:endParaRPr/>
          </a:p>
          <a:p>
            <a:pPr indent="-2984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Works fully offline</a:t>
            </a:r>
            <a:br>
              <a:rPr lang="en"/>
            </a:br>
            <a:endParaRPr/>
          </a:p>
          <a:p>
            <a:pPr indent="-2984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Ideal for academic or enterprise use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